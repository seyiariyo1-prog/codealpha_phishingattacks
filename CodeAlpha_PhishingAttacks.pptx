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0" r:id="rId10"/>
    <p:sldId id="263" r:id="rId11"/>
    <p:sldId id="264" r:id="rId12"/>
    <p:sldId id="272" r:id="rId13"/>
    <p:sldId id="265" r:id="rId14"/>
    <p:sldId id="266" r:id="rId15"/>
    <p:sldId id="267" r:id="rId16"/>
    <p:sldId id="268" r:id="rId17"/>
    <p:sldId id="273" r:id="rId18"/>
    <p:sldId id="274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SEYI ARIYO" userId="9f20ee7d8ecae1b7" providerId="LiveId" clId="{D2236E91-8824-46F3-9C7A-F026B79617FE}"/>
    <pc:docChg chg="custSel modSld">
      <pc:chgData name="OLUWASEYI ARIYO" userId="9f20ee7d8ecae1b7" providerId="LiveId" clId="{D2236E91-8824-46F3-9C7A-F026B79617FE}" dt="2026-05-10T13:13:23.582" v="42" actId="14100"/>
      <pc:docMkLst>
        <pc:docMk/>
      </pc:docMkLst>
      <pc:sldChg chg="modSp mod">
        <pc:chgData name="OLUWASEYI ARIYO" userId="9f20ee7d8ecae1b7" providerId="LiveId" clId="{D2236E91-8824-46F3-9C7A-F026B79617FE}" dt="2026-05-10T13:10:14.857" v="21" actId="20577"/>
        <pc:sldMkLst>
          <pc:docMk/>
          <pc:sldMk cId="241262491" sldId="256"/>
        </pc:sldMkLst>
        <pc:spChg chg="mod">
          <ac:chgData name="OLUWASEYI ARIYO" userId="9f20ee7d8ecae1b7" providerId="LiveId" clId="{D2236E91-8824-46F3-9C7A-F026B79617FE}" dt="2026-05-10T13:09:34.264" v="12" actId="1076"/>
          <ac:spMkLst>
            <pc:docMk/>
            <pc:sldMk cId="241262491" sldId="256"/>
            <ac:spMk id="2" creationId="{810B2BD3-5BD7-446F-3FC6-366BB92E356A}"/>
          </ac:spMkLst>
        </pc:spChg>
        <pc:spChg chg="mod">
          <ac:chgData name="OLUWASEYI ARIYO" userId="9f20ee7d8ecae1b7" providerId="LiveId" clId="{D2236E91-8824-46F3-9C7A-F026B79617FE}" dt="2026-05-10T13:10:14.857" v="21" actId="20577"/>
          <ac:spMkLst>
            <pc:docMk/>
            <pc:sldMk cId="241262491" sldId="256"/>
            <ac:spMk id="3" creationId="{E26C0959-1FE1-CFE8-4C95-A8F523D3DE87}"/>
          </ac:spMkLst>
        </pc:spChg>
      </pc:sldChg>
      <pc:sldChg chg="modSp mod">
        <pc:chgData name="OLUWASEYI ARIYO" userId="9f20ee7d8ecae1b7" providerId="LiveId" clId="{D2236E91-8824-46F3-9C7A-F026B79617FE}" dt="2026-05-10T13:09:12.894" v="1" actId="27636"/>
        <pc:sldMkLst>
          <pc:docMk/>
          <pc:sldMk cId="2751843112" sldId="257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751843112" sldId="257"/>
            <ac:spMk id="2" creationId="{D334D40E-7B85-BAD2-696A-AF6FAA7FDF9B}"/>
          </ac:spMkLst>
        </pc:spChg>
        <pc:spChg chg="mod">
          <ac:chgData name="OLUWASEYI ARIYO" userId="9f20ee7d8ecae1b7" providerId="LiveId" clId="{D2236E91-8824-46F3-9C7A-F026B79617FE}" dt="2026-05-10T13:09:12.894" v="1" actId="27636"/>
          <ac:spMkLst>
            <pc:docMk/>
            <pc:sldMk cId="2751843112" sldId="257"/>
            <ac:spMk id="3" creationId="{A51EB25A-90B7-58AD-5A9A-C754149DA9B2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3880696923" sldId="258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3880696923" sldId="258"/>
            <ac:spMk id="2" creationId="{A60B99BB-FDE9-1A53-0873-FB2AC11024A5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25983497" sldId="259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5983497" sldId="259"/>
            <ac:spMk id="2" creationId="{2B0BEF87-9706-5893-32C8-DEC2CEF8B6C2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270397030" sldId="260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70397030" sldId="260"/>
            <ac:spMk id="2" creationId="{A711EC9C-23C2-DB63-A4FC-AE7964BA2525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2644973829" sldId="261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644973829" sldId="261"/>
            <ac:spMk id="2" creationId="{6BE7C11E-E71E-C3FD-4F82-6699A792B8C0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1960742484" sldId="262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1960742484" sldId="262"/>
            <ac:spMk id="2" creationId="{B34FCE31-BFCA-72BD-8FB9-DA4A35F7C40F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758478904" sldId="263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758478904" sldId="263"/>
            <ac:spMk id="2" creationId="{3C4ACEDC-5B74-495E-2071-A0866B8D9C64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1529823981" sldId="264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1529823981" sldId="264"/>
            <ac:spMk id="2" creationId="{A19E382E-E56B-1288-98D4-BC91931C1436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1318655433" sldId="265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1318655433" sldId="265"/>
            <ac:spMk id="2" creationId="{C626EF07-A611-931A-765B-F4B14BBFCC60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586999009" sldId="266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586999009" sldId="266"/>
            <ac:spMk id="2" creationId="{3987ACD9-7005-947D-113B-15F5518F500C}"/>
          </ac:spMkLst>
        </pc:spChg>
      </pc:sldChg>
      <pc:sldChg chg="modSp mod">
        <pc:chgData name="OLUWASEYI ARIYO" userId="9f20ee7d8ecae1b7" providerId="LiveId" clId="{D2236E91-8824-46F3-9C7A-F026B79617FE}" dt="2026-05-10T13:12:55.435" v="40" actId="255"/>
        <pc:sldMkLst>
          <pc:docMk/>
          <pc:sldMk cId="1583337843" sldId="267"/>
        </pc:sldMkLst>
        <pc:spChg chg="mod">
          <ac:chgData name="OLUWASEYI ARIYO" userId="9f20ee7d8ecae1b7" providerId="LiveId" clId="{D2236E91-8824-46F3-9C7A-F026B79617FE}" dt="2026-05-10T13:12:55.435" v="40" actId="255"/>
          <ac:spMkLst>
            <pc:docMk/>
            <pc:sldMk cId="1583337843" sldId="267"/>
            <ac:spMk id="2" creationId="{AFBBF42A-ED5F-9782-41A6-794C9D492044}"/>
          </ac:spMkLst>
        </pc:spChg>
        <pc:spChg chg="mod">
          <ac:chgData name="OLUWASEYI ARIYO" userId="9f20ee7d8ecae1b7" providerId="LiveId" clId="{D2236E91-8824-46F3-9C7A-F026B79617FE}" dt="2026-05-10T13:12:33.461" v="36" actId="27636"/>
          <ac:spMkLst>
            <pc:docMk/>
            <pc:sldMk cId="1583337843" sldId="267"/>
            <ac:spMk id="3" creationId="{3BFA8B2B-45F4-9A90-8668-246D32F23590}"/>
          </ac:spMkLst>
        </pc:spChg>
      </pc:sldChg>
      <pc:sldChg chg="modSp mod">
        <pc:chgData name="OLUWASEYI ARIYO" userId="9f20ee7d8ecae1b7" providerId="LiveId" clId="{D2236E91-8824-46F3-9C7A-F026B79617FE}" dt="2026-05-10T13:09:13.100" v="6" actId="27636"/>
        <pc:sldMkLst>
          <pc:docMk/>
          <pc:sldMk cId="2550071704" sldId="268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550071704" sldId="268"/>
            <ac:spMk id="2" creationId="{9704D878-9B19-5A94-B139-7F7688FBE9CE}"/>
          </ac:spMkLst>
        </pc:spChg>
        <pc:spChg chg="mod">
          <ac:chgData name="OLUWASEYI ARIYO" userId="9f20ee7d8ecae1b7" providerId="LiveId" clId="{D2236E91-8824-46F3-9C7A-F026B79617FE}" dt="2026-05-10T13:09:13.100" v="6" actId="27636"/>
          <ac:spMkLst>
            <pc:docMk/>
            <pc:sldMk cId="2550071704" sldId="268"/>
            <ac:spMk id="3" creationId="{D94F89C7-D702-43C1-17AF-3628E3B1E814}"/>
          </ac:spMkLst>
        </pc:spChg>
      </pc:sldChg>
      <pc:sldChg chg="modSp">
        <pc:chgData name="OLUWASEYI ARIYO" userId="9f20ee7d8ecae1b7" providerId="LiveId" clId="{D2236E91-8824-46F3-9C7A-F026B79617FE}" dt="2026-05-10T13:09:12.784" v="0"/>
        <pc:sldMkLst>
          <pc:docMk/>
          <pc:sldMk cId="3559472730" sldId="269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3559472730" sldId="269"/>
            <ac:spMk id="2" creationId="{63B31CA9-6900-9043-673D-E34821463C88}"/>
          </ac:spMkLst>
        </pc:spChg>
      </pc:sldChg>
      <pc:sldChg chg="modSp mod">
        <pc:chgData name="OLUWASEYI ARIYO" userId="9f20ee7d8ecae1b7" providerId="LiveId" clId="{D2236E91-8824-46F3-9C7A-F026B79617FE}" dt="2026-05-10T13:11:36.974" v="33" actId="20577"/>
        <pc:sldMkLst>
          <pc:docMk/>
          <pc:sldMk cId="2410715814" sldId="270"/>
        </pc:sldMkLst>
        <pc:spChg chg="mod">
          <ac:chgData name="OLUWASEYI ARIYO" userId="9f20ee7d8ecae1b7" providerId="LiveId" clId="{D2236E91-8824-46F3-9C7A-F026B79617FE}" dt="2026-05-10T13:09:12.784" v="0"/>
          <ac:spMkLst>
            <pc:docMk/>
            <pc:sldMk cId="2410715814" sldId="270"/>
            <ac:spMk id="2" creationId="{6DF2B5C8-AA6C-F210-C91F-88A9C1B6F1F8}"/>
          </ac:spMkLst>
        </pc:spChg>
        <pc:spChg chg="mod">
          <ac:chgData name="OLUWASEYI ARIYO" userId="9f20ee7d8ecae1b7" providerId="LiveId" clId="{D2236E91-8824-46F3-9C7A-F026B79617FE}" dt="2026-05-10T13:11:36.974" v="33" actId="20577"/>
          <ac:spMkLst>
            <pc:docMk/>
            <pc:sldMk cId="2410715814" sldId="270"/>
            <ac:spMk id="3" creationId="{3CA72ED8-AB91-BB54-4791-1D790F938102}"/>
          </ac:spMkLst>
        </pc:spChg>
      </pc:sldChg>
      <pc:sldChg chg="modSp mod">
        <pc:chgData name="OLUWASEYI ARIYO" userId="9f20ee7d8ecae1b7" providerId="LiveId" clId="{D2236E91-8824-46F3-9C7A-F026B79617FE}" dt="2026-05-10T13:11:18.218" v="23" actId="2711"/>
        <pc:sldMkLst>
          <pc:docMk/>
          <pc:sldMk cId="766835661" sldId="271"/>
        </pc:sldMkLst>
        <pc:spChg chg="mod">
          <ac:chgData name="OLUWASEYI ARIYO" userId="9f20ee7d8ecae1b7" providerId="LiveId" clId="{D2236E91-8824-46F3-9C7A-F026B79617FE}" dt="2026-05-10T13:11:18.218" v="23" actId="2711"/>
          <ac:spMkLst>
            <pc:docMk/>
            <pc:sldMk cId="766835661" sldId="271"/>
            <ac:spMk id="3" creationId="{24E174CF-9BDE-2A2B-BAB9-D28D74DDB38C}"/>
          </ac:spMkLst>
        </pc:spChg>
      </pc:sldChg>
      <pc:sldChg chg="modSp mod">
        <pc:chgData name="OLUWASEYI ARIYO" userId="9f20ee7d8ecae1b7" providerId="LiveId" clId="{D2236E91-8824-46F3-9C7A-F026B79617FE}" dt="2026-05-10T13:12:15.674" v="34" actId="14100"/>
        <pc:sldMkLst>
          <pc:docMk/>
          <pc:sldMk cId="1394630101" sldId="272"/>
        </pc:sldMkLst>
        <pc:spChg chg="mod">
          <ac:chgData name="OLUWASEYI ARIYO" userId="9f20ee7d8ecae1b7" providerId="LiveId" clId="{D2236E91-8824-46F3-9C7A-F026B79617FE}" dt="2026-05-10T13:12:15.674" v="34" actId="14100"/>
          <ac:spMkLst>
            <pc:docMk/>
            <pc:sldMk cId="1394630101" sldId="272"/>
            <ac:spMk id="3" creationId="{C621CEAF-B625-BB75-BBDF-19579CB042DE}"/>
          </ac:spMkLst>
        </pc:spChg>
      </pc:sldChg>
      <pc:sldChg chg="modSp mod">
        <pc:chgData name="OLUWASEYI ARIYO" userId="9f20ee7d8ecae1b7" providerId="LiveId" clId="{D2236E91-8824-46F3-9C7A-F026B79617FE}" dt="2026-05-10T13:13:14.563" v="41" actId="14100"/>
        <pc:sldMkLst>
          <pc:docMk/>
          <pc:sldMk cId="788923107" sldId="273"/>
        </pc:sldMkLst>
        <pc:spChg chg="mod">
          <ac:chgData name="OLUWASEYI ARIYO" userId="9f20ee7d8ecae1b7" providerId="LiveId" clId="{D2236E91-8824-46F3-9C7A-F026B79617FE}" dt="2026-05-10T13:13:14.563" v="41" actId="14100"/>
          <ac:spMkLst>
            <pc:docMk/>
            <pc:sldMk cId="788923107" sldId="273"/>
            <ac:spMk id="3" creationId="{07719F97-D025-A433-483C-7F9ACB18DE8E}"/>
          </ac:spMkLst>
        </pc:spChg>
      </pc:sldChg>
      <pc:sldChg chg="modSp mod">
        <pc:chgData name="OLUWASEYI ARIYO" userId="9f20ee7d8ecae1b7" providerId="LiveId" clId="{D2236E91-8824-46F3-9C7A-F026B79617FE}" dt="2026-05-10T13:13:23.582" v="42" actId="14100"/>
        <pc:sldMkLst>
          <pc:docMk/>
          <pc:sldMk cId="4088821810" sldId="274"/>
        </pc:sldMkLst>
        <pc:spChg chg="mod">
          <ac:chgData name="OLUWASEYI ARIYO" userId="9f20ee7d8ecae1b7" providerId="LiveId" clId="{D2236E91-8824-46F3-9C7A-F026B79617FE}" dt="2026-05-10T13:13:23.582" v="42" actId="14100"/>
          <ac:spMkLst>
            <pc:docMk/>
            <pc:sldMk cId="4088821810" sldId="274"/>
            <ac:spMk id="3" creationId="{1A4EA28D-E53A-7686-84AE-320D532178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B3E34-9550-4D9C-A6FF-3D05F78EA68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EF2BF-F3AB-4242-A175-D5E5608D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99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EF2BF-F3AB-4242-A175-D5E5608DB8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7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9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3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0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6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2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3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3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6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5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6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352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5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660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11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60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04BFD-8196-4D12-8FD8-7B8E2EBD35CD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7F1898-41D6-4F9B-B6D2-F29A47197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3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2BD3-5BD7-446F-3FC6-366BB92E3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541" y="666345"/>
            <a:ext cx="8915399" cy="2262781"/>
          </a:xfrm>
        </p:spPr>
        <p:txBody>
          <a:bodyPr/>
          <a:lstStyle/>
          <a:p>
            <a:r>
              <a:rPr lang="en-US" b="1" dirty="0"/>
              <a:t>PHISHING ATTACKS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C0959-1FE1-CFE8-4C95-A8F523D3D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8553" y="3602038"/>
            <a:ext cx="9144000" cy="2983588"/>
          </a:xfrm>
        </p:spPr>
        <p:txBody>
          <a:bodyPr>
            <a:noAutofit/>
          </a:bodyPr>
          <a:lstStyle/>
          <a:p>
            <a:pPr algn="ctr"/>
            <a:r>
              <a:rPr lang="en-US" sz="3000" dirty="0"/>
              <a:t>Think Before You Click</a:t>
            </a:r>
          </a:p>
          <a:p>
            <a:pPr algn="ctr"/>
            <a:endParaRPr lang="en-US" sz="3000" dirty="0"/>
          </a:p>
          <a:p>
            <a:pPr algn="ctr"/>
            <a:r>
              <a:rPr lang="en-US" sz="3000" dirty="0"/>
              <a:t>Prepared by: ARIYO OLUWASEYI</a:t>
            </a:r>
          </a:p>
          <a:p>
            <a:pPr algn="ctr"/>
            <a:endParaRPr lang="en-US" sz="3000" dirty="0"/>
          </a:p>
          <a:p>
            <a:pPr algn="ctr"/>
            <a:r>
              <a:rPr lang="en-US" sz="3000" dirty="0"/>
              <a:t>Course: Cybersecurity Interim Training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126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D40E-7B85-BAD2-696A-AF6FAA7F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 True-to-Life Situation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B25A-90B7-58AD-5A9A-C754149DA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98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Imagine receiving a message that says: “Your bank account will be suspended within 24 hours. Click the link below to verify your details immediately.” Would you have clicked the link?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b="1" dirty="0"/>
              <a:t>What is Phishing?</a:t>
            </a:r>
          </a:p>
          <a:p>
            <a:pPr marL="0" indent="0">
              <a:buNone/>
            </a:pPr>
            <a:r>
              <a:rPr lang="en-US" dirty="0"/>
              <a:t>Phishing is a cyberattack where criminals pretend to be trusted individuals or organizations to steal sensitive information.</a:t>
            </a:r>
          </a:p>
          <a:p>
            <a:pPr marL="0" indent="0">
              <a:buNone/>
            </a:pPr>
            <a:r>
              <a:rPr lang="en-US" dirty="0"/>
              <a:t>• Passwords</a:t>
            </a:r>
          </a:p>
          <a:p>
            <a:pPr marL="0" indent="0">
              <a:buNone/>
            </a:pPr>
            <a:r>
              <a:rPr lang="en-US" dirty="0"/>
              <a:t>• ATM details</a:t>
            </a:r>
          </a:p>
          <a:p>
            <a:pPr marL="0" indent="0">
              <a:buNone/>
            </a:pPr>
            <a:r>
              <a:rPr lang="en-US" dirty="0"/>
              <a:t>• OTP codes</a:t>
            </a:r>
          </a:p>
          <a:p>
            <a:pPr marL="0" indent="0">
              <a:buNone/>
            </a:pPr>
            <a:r>
              <a:rPr lang="en-US" dirty="0"/>
              <a:t>• Personal information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4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99BB-FDE9-1A53-0873-FB2AC110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Phishing Matters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AA4C-71B8-53E7-E784-428BD26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1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Phishing attacks can cause:</a:t>
            </a:r>
          </a:p>
          <a:p>
            <a:pPr marL="0" indent="0">
              <a:buNone/>
            </a:pPr>
            <a:r>
              <a:rPr lang="en-US" dirty="0"/>
              <a:t>• Financial loss</a:t>
            </a:r>
          </a:p>
          <a:p>
            <a:pPr marL="0" indent="0">
              <a:buNone/>
            </a:pPr>
            <a:r>
              <a:rPr lang="en-US" dirty="0"/>
              <a:t>• Identity theft</a:t>
            </a:r>
          </a:p>
          <a:p>
            <a:pPr marL="0" indent="0">
              <a:buNone/>
            </a:pPr>
            <a:r>
              <a:rPr lang="en-US" dirty="0"/>
              <a:t>• Hacked accounts</a:t>
            </a:r>
          </a:p>
          <a:p>
            <a:pPr marL="0" indent="0">
              <a:buNone/>
            </a:pPr>
            <a:r>
              <a:rPr lang="en-US" dirty="0"/>
              <a:t>• Leakage of company data</a:t>
            </a:r>
          </a:p>
          <a:p>
            <a:pPr marL="0" indent="0">
              <a:buNone/>
            </a:pPr>
            <a:r>
              <a:rPr lang="en-US" dirty="0"/>
              <a:t>• Damage to reputation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96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EF87-9706-5893-32C8-DEC2CEF8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Common Scams in Nigeria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C79E0-7660-1C51-9C65-59C46427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88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Fake </a:t>
            </a:r>
            <a:r>
              <a:rPr lang="en-US" dirty="0" err="1"/>
              <a:t>GTBank</a:t>
            </a:r>
            <a:r>
              <a:rPr lang="en-US" dirty="0"/>
              <a:t> verification emails</a:t>
            </a:r>
          </a:p>
          <a:p>
            <a:pPr marL="0" indent="0">
              <a:buNone/>
            </a:pPr>
            <a:r>
              <a:rPr lang="en-US" dirty="0"/>
              <a:t>• Fraudulent </a:t>
            </a:r>
            <a:r>
              <a:rPr lang="en-US" dirty="0" err="1"/>
              <a:t>Opay</a:t>
            </a:r>
            <a:r>
              <a:rPr lang="en-US" dirty="0"/>
              <a:t> or </a:t>
            </a:r>
            <a:r>
              <a:rPr lang="en-US" dirty="0" err="1"/>
              <a:t>Palmpay</a:t>
            </a:r>
            <a:r>
              <a:rPr lang="en-US" dirty="0"/>
              <a:t> alerts</a:t>
            </a:r>
          </a:p>
          <a:p>
            <a:pPr marL="0" indent="0">
              <a:buNone/>
            </a:pPr>
            <a:r>
              <a:rPr lang="en-US" dirty="0"/>
              <a:t>• Fake JAMB or WAEC portal links</a:t>
            </a:r>
          </a:p>
          <a:p>
            <a:pPr marL="0" indent="0">
              <a:buNone/>
            </a:pPr>
            <a:r>
              <a:rPr lang="en-US" dirty="0"/>
              <a:t>• WhatsApp verification scams</a:t>
            </a:r>
          </a:p>
          <a:p>
            <a:pPr marL="0" indent="0">
              <a:buNone/>
            </a:pPr>
            <a:r>
              <a:rPr lang="en-US" dirty="0"/>
              <a:t>• NYSC recruitment scams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EC9C-23C2-DB63-A4FC-AE7964BA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Types of Phishing Attacks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0C4D-46AC-740D-3B07-9A49931E2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Email Phishing</a:t>
            </a:r>
          </a:p>
          <a:p>
            <a:pPr marL="0" indent="0">
              <a:buNone/>
            </a:pPr>
            <a:r>
              <a:rPr lang="en-US" dirty="0"/>
              <a:t>2. Spear Phishing</a:t>
            </a:r>
          </a:p>
          <a:p>
            <a:pPr marL="0" indent="0">
              <a:buNone/>
            </a:pPr>
            <a:r>
              <a:rPr lang="en-US" dirty="0"/>
              <a:t>3. Smishing</a:t>
            </a:r>
          </a:p>
          <a:p>
            <a:pPr marL="0" indent="0">
              <a:buNone/>
            </a:pPr>
            <a:r>
              <a:rPr lang="en-US" dirty="0"/>
              <a:t>4. Vishing</a:t>
            </a:r>
          </a:p>
          <a:p>
            <a:pPr marL="0" indent="0">
              <a:buNone/>
            </a:pPr>
            <a:r>
              <a:rPr lang="en-US" dirty="0"/>
              <a:t>5. Clone Phishing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C11E-E71E-C3FD-4F82-6699A792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Social Engineering Techniques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3497-F955-E003-B9BC-B686E053C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Cybercriminals manipulate emotions such as:</a:t>
            </a:r>
          </a:p>
          <a:p>
            <a:pPr marL="0" indent="0">
              <a:buNone/>
            </a:pPr>
            <a:r>
              <a:rPr lang="en-US" dirty="0"/>
              <a:t>• Fear</a:t>
            </a:r>
          </a:p>
          <a:p>
            <a:pPr marL="0" indent="0">
              <a:buNone/>
            </a:pPr>
            <a:r>
              <a:rPr lang="en-US" dirty="0"/>
              <a:t>• Curiosity</a:t>
            </a:r>
          </a:p>
          <a:p>
            <a:pPr marL="0" indent="0">
              <a:buNone/>
            </a:pPr>
            <a:r>
              <a:rPr lang="en-US" dirty="0"/>
              <a:t>• Urgency</a:t>
            </a:r>
          </a:p>
          <a:p>
            <a:pPr marL="0" indent="0">
              <a:buNone/>
            </a:pPr>
            <a:r>
              <a:rPr lang="en-US" dirty="0"/>
              <a:t>• Trust</a:t>
            </a:r>
          </a:p>
          <a:p>
            <a:pPr marL="0" indent="0">
              <a:buNone/>
            </a:pPr>
            <a:r>
              <a:rPr lang="en-US" dirty="0"/>
              <a:t>• Excitement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7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791B3-51B4-7451-A0EA-AB07C951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416"/>
            <a:ext cx="10515600" cy="706168"/>
          </a:xfrm>
        </p:spPr>
        <p:txBody>
          <a:bodyPr/>
          <a:lstStyle/>
          <a:p>
            <a:pPr algn="ctr"/>
            <a:r>
              <a:rPr lang="en-US" b="1" dirty="0"/>
              <a:t>Common Social Engineering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174CF-9BDE-2A2B-BAB9-D28D74DD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702" y="943584"/>
            <a:ext cx="9700098" cy="59144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Tactics Used by Attackers</a:t>
            </a:r>
          </a:p>
          <a:p>
            <a:pPr marL="0" indent="0">
              <a:buNone/>
            </a:pPr>
            <a:r>
              <a:rPr lang="en-US" dirty="0"/>
              <a:t>Cybercriminals often trick victims using:</a:t>
            </a:r>
          </a:p>
          <a:p>
            <a:pPr marL="514350" indent="-514350">
              <a:buAutoNum type="arabicPeriod"/>
            </a:pPr>
            <a:r>
              <a:rPr lang="en-US" dirty="0"/>
              <a:t>Urgency</a:t>
            </a:r>
          </a:p>
          <a:p>
            <a:pPr marL="0" indent="0">
              <a:buNone/>
            </a:pPr>
            <a:r>
              <a:rPr lang="en-US" dirty="0"/>
              <a:t>“Your account will be blocked immediately!”</a:t>
            </a:r>
          </a:p>
          <a:p>
            <a:pPr marL="0" indent="0">
              <a:buNone/>
            </a:pPr>
            <a:r>
              <a:rPr lang="en-US" dirty="0"/>
              <a:t>2. Fear</a:t>
            </a:r>
          </a:p>
          <a:p>
            <a:pPr marL="0" indent="0">
              <a:buNone/>
            </a:pPr>
            <a:r>
              <a:rPr lang="en-US" dirty="0"/>
              <a:t>“Unauthorized login detected.”</a:t>
            </a:r>
          </a:p>
          <a:p>
            <a:pPr marL="0" indent="0">
              <a:buNone/>
            </a:pPr>
            <a:r>
              <a:rPr lang="en-US" dirty="0"/>
              <a:t>3. Greed</a:t>
            </a:r>
          </a:p>
          <a:p>
            <a:pPr marL="0" indent="0">
              <a:buNone/>
            </a:pPr>
            <a:r>
              <a:rPr lang="en-US" dirty="0"/>
              <a:t>“You have won ₦500,000.”</a:t>
            </a:r>
          </a:p>
          <a:p>
            <a:pPr marL="0" indent="0">
              <a:buNone/>
            </a:pPr>
            <a:r>
              <a:rPr lang="en-US" dirty="0"/>
              <a:t>4. Curiosity</a:t>
            </a:r>
          </a:p>
          <a:p>
            <a:pPr marL="0" indent="0">
              <a:buNone/>
            </a:pPr>
            <a:r>
              <a:rPr lang="en-US" dirty="0"/>
              <a:t>“See who viewed your profile.”</a:t>
            </a:r>
          </a:p>
          <a:p>
            <a:pPr marL="0" indent="0">
              <a:buNone/>
            </a:pPr>
            <a:r>
              <a:rPr lang="en-US" dirty="0"/>
              <a:t>5. Authority</a:t>
            </a:r>
          </a:p>
          <a:p>
            <a:pPr marL="0" indent="0">
              <a:buNone/>
            </a:pPr>
            <a:r>
              <a:rPr lang="en-US" dirty="0"/>
              <a:t>Pretending to be:</a:t>
            </a:r>
          </a:p>
          <a:p>
            <a:r>
              <a:rPr lang="en-US" dirty="0"/>
              <a:t>Bank officials</a:t>
            </a:r>
          </a:p>
          <a:p>
            <a:r>
              <a:rPr lang="en-US" dirty="0"/>
              <a:t>HR departments</a:t>
            </a:r>
          </a:p>
          <a:p>
            <a:r>
              <a:rPr lang="en-US" dirty="0"/>
              <a:t>Government agencies</a:t>
            </a:r>
          </a:p>
          <a:p>
            <a:r>
              <a:rPr lang="en-US" dirty="0"/>
              <a:t>IT support staff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Lesson:</a:t>
            </a:r>
          </a:p>
          <a:p>
            <a:pPr marL="0" indent="0">
              <a:buNone/>
            </a:pPr>
            <a:r>
              <a:rPr lang="en-US" dirty="0"/>
              <a:t>Attackers manipulate human emotions to gain trust.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35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CE31-BFCA-72BD-8FB9-DA4A35F7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Spot the Red Flags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DFCF-6564-5A06-95A0-6EAA69C3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21" y="13781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Watch out for:</a:t>
            </a:r>
          </a:p>
          <a:p>
            <a:pPr marL="0" indent="0">
              <a:buNone/>
            </a:pPr>
            <a:r>
              <a:rPr lang="en-US" dirty="0"/>
              <a:t>• Unknown sender addresses</a:t>
            </a:r>
          </a:p>
          <a:p>
            <a:pPr marL="0" indent="0">
              <a:buNone/>
            </a:pPr>
            <a:r>
              <a:rPr lang="en-US" dirty="0"/>
              <a:t>• Suspicious links</a:t>
            </a:r>
          </a:p>
          <a:p>
            <a:pPr marL="0" indent="0">
              <a:buNone/>
            </a:pPr>
            <a:r>
              <a:rPr lang="en-US" dirty="0"/>
              <a:t>• Urgent messages</a:t>
            </a:r>
          </a:p>
          <a:p>
            <a:pPr marL="0" indent="0">
              <a:buNone/>
            </a:pPr>
            <a:r>
              <a:rPr lang="en-US" dirty="0"/>
              <a:t>• Requests for passwords</a:t>
            </a:r>
          </a:p>
          <a:p>
            <a:pPr marL="0" indent="0">
              <a:buNone/>
            </a:pPr>
            <a:r>
              <a:rPr lang="en-US" dirty="0"/>
              <a:t>• Poor grammar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42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B5C8-AA6C-F210-C91F-88A9C1B6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Identify Fake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72ED8-AB91-BB54-4791-1D790F938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973"/>
            <a:ext cx="10515600" cy="479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Watch out for these warning signs:</a:t>
            </a:r>
          </a:p>
          <a:p>
            <a:r>
              <a:rPr lang="en-US" dirty="0"/>
              <a:t>Misspelled website addresses</a:t>
            </a:r>
          </a:p>
          <a:p>
            <a:pPr marL="0" indent="0">
              <a:buNone/>
            </a:pPr>
            <a:r>
              <a:rPr lang="en-US" dirty="0"/>
              <a:t>    Example: www.gtbank.com (real)</a:t>
            </a:r>
          </a:p>
          <a:p>
            <a:pPr marL="0" indent="0">
              <a:buNone/>
            </a:pPr>
            <a:r>
              <a:rPr lang="en-US" dirty="0"/>
              <a:t>                      www.gtbnk-login.com (fake)</a:t>
            </a:r>
          </a:p>
          <a:p>
            <a:r>
              <a:rPr lang="en-US" dirty="0"/>
              <a:t>No padlock security symbol</a:t>
            </a:r>
          </a:p>
          <a:p>
            <a:r>
              <a:rPr lang="en-US" dirty="0"/>
              <a:t>Too many pop-up messages</a:t>
            </a:r>
          </a:p>
          <a:p>
            <a:r>
              <a:rPr lang="en-US" dirty="0"/>
              <a:t>Poor website design and grammar mistakes</a:t>
            </a:r>
          </a:p>
          <a:p>
            <a:r>
              <a:rPr lang="en-US" dirty="0"/>
              <a:t>Unrealistic offers or giveaways</a:t>
            </a:r>
          </a:p>
          <a:p>
            <a:r>
              <a:rPr lang="en-US" dirty="0"/>
              <a:t>Requests for sensitive information immediately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Important Tip:</a:t>
            </a:r>
          </a:p>
          <a:p>
            <a:pPr marL="0" indent="0">
              <a:buNone/>
            </a:pPr>
            <a:r>
              <a:rPr lang="en-US" dirty="0"/>
              <a:t>     Always type official website addresses manually instead of clicking random links.</a:t>
            </a:r>
          </a:p>
        </p:txBody>
      </p:sp>
    </p:spTree>
    <p:extLst>
      <p:ext uri="{BB962C8B-B14F-4D97-AF65-F5344CB8AC3E}">
        <p14:creationId xmlns:p14="http://schemas.microsoft.com/office/powerpoint/2010/main" val="2410715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CEDC-5B74-495E-2071-A0866B8D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Real vs Fake Message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3DAC2-F6A3-C04C-EE60-5EA6D32F6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931" y="13295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Legitimate:</a:t>
            </a:r>
          </a:p>
          <a:p>
            <a:pPr marL="0" indent="0">
              <a:buNone/>
            </a:pPr>
            <a:r>
              <a:rPr lang="en-US" dirty="0"/>
              <a:t>• Official email address</a:t>
            </a:r>
          </a:p>
          <a:p>
            <a:pPr marL="0" indent="0">
              <a:buNone/>
            </a:pPr>
            <a:r>
              <a:rPr lang="en-US" dirty="0"/>
              <a:t>• Secure website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Phishing:</a:t>
            </a:r>
          </a:p>
          <a:p>
            <a:pPr marL="0" indent="0">
              <a:buNone/>
            </a:pPr>
            <a:r>
              <a:rPr lang="en-US" dirty="0"/>
              <a:t>• Fake email address</a:t>
            </a:r>
          </a:p>
          <a:p>
            <a:pPr marL="0" indent="0">
              <a:buNone/>
            </a:pPr>
            <a:r>
              <a:rPr lang="en-US" dirty="0"/>
              <a:t>• Suspicious links</a:t>
            </a:r>
          </a:p>
          <a:p>
            <a:pPr marL="0" indent="0">
              <a:buNone/>
            </a:pPr>
            <a:r>
              <a:rPr lang="en-US" dirty="0"/>
              <a:t>• Requests for sensitive information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78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382E-E56B-1288-98D4-BC91931C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Case Study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D3492-2930-D559-47E6-28848082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employee received a fake HR email requesting password confirmation. </a:t>
            </a:r>
          </a:p>
          <a:p>
            <a:pPr marL="0" indent="0">
              <a:buNone/>
            </a:pPr>
            <a:r>
              <a:rPr lang="en-US" dirty="0"/>
              <a:t>Mistakes made:</a:t>
            </a:r>
          </a:p>
          <a:p>
            <a:pPr marL="0" indent="0">
              <a:buNone/>
            </a:pPr>
            <a:r>
              <a:rPr lang="en-US" dirty="0"/>
              <a:t>• Clicked suspicious link</a:t>
            </a:r>
          </a:p>
          <a:p>
            <a:pPr marL="0" indent="0">
              <a:buNone/>
            </a:pPr>
            <a:r>
              <a:rPr lang="en-US" dirty="0"/>
              <a:t>• Entered company credentials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Result:</a:t>
            </a:r>
          </a:p>
          <a:p>
            <a:pPr marL="0" indent="0">
              <a:buNone/>
            </a:pPr>
            <a:r>
              <a:rPr lang="en-US" dirty="0"/>
              <a:t>Hackers gained access to the company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2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E571-4EAD-6756-535A-5CA1208D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1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Real-World Phishing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CEAF-B625-BB75-BBDF-19579CB04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430" y="953311"/>
            <a:ext cx="9690370" cy="56906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 1: </a:t>
            </a:r>
          </a:p>
          <a:p>
            <a:pPr marL="0" indent="0">
              <a:buNone/>
            </a:pPr>
            <a:r>
              <a:rPr lang="en-US" dirty="0"/>
              <a:t>Banking Scam</a:t>
            </a:r>
          </a:p>
          <a:p>
            <a:pPr marL="0" indent="0">
              <a:buNone/>
            </a:pPr>
            <a:r>
              <a:rPr lang="en-US" dirty="0"/>
              <a:t>Victims received fake bank emails requesting account verification.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dirty="0"/>
              <a:t>Example 2: COVID-19 Scam</a:t>
            </a:r>
          </a:p>
          <a:p>
            <a:pPr marL="0" indent="0">
              <a:buNone/>
            </a:pPr>
            <a:r>
              <a:rPr lang="en-US" dirty="0"/>
              <a:t>Hackers sent fake health updates and vaccination links.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Example 3: </a:t>
            </a:r>
          </a:p>
          <a:p>
            <a:pPr marL="0" indent="0">
              <a:buNone/>
            </a:pPr>
            <a:r>
              <a:rPr lang="en-US" dirty="0"/>
              <a:t>WhatsApp Verification Scam</a:t>
            </a:r>
          </a:p>
          <a:p>
            <a:pPr marL="0" indent="0">
              <a:buNone/>
            </a:pPr>
            <a:r>
              <a:rPr lang="en-US" dirty="0"/>
              <a:t>Attackers requested verification codes and hijacked accounts.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dirty="0"/>
              <a:t>Example 4: </a:t>
            </a:r>
          </a:p>
          <a:p>
            <a:pPr marL="0" indent="0">
              <a:buNone/>
            </a:pPr>
            <a:r>
              <a:rPr lang="en-US" dirty="0"/>
              <a:t>Job Recruitment Scam</a:t>
            </a:r>
          </a:p>
          <a:p>
            <a:pPr marL="0" indent="0">
              <a:buNone/>
            </a:pPr>
            <a:r>
              <a:rPr lang="en-US" dirty="0"/>
              <a:t>Fake job offers were used to steal personal information.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dirty="0"/>
              <a:t>Lesson:</a:t>
            </a:r>
          </a:p>
          <a:p>
            <a:pPr marL="0" indent="0">
              <a:buNone/>
            </a:pPr>
            <a:r>
              <a:rPr lang="en-US" dirty="0"/>
              <a:t>Phishing attacks can happen to anyone.</a:t>
            </a:r>
          </a:p>
        </p:txBody>
      </p:sp>
    </p:spTree>
    <p:extLst>
      <p:ext uri="{BB962C8B-B14F-4D97-AF65-F5344CB8AC3E}">
        <p14:creationId xmlns:p14="http://schemas.microsoft.com/office/powerpoint/2010/main" val="139463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EF07-A611-931A-765B-F4B14BBF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Consequences of Phishing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0FC1-7466-82DA-0870-DF5339A8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21" y="14073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Bank fraud</a:t>
            </a:r>
          </a:p>
          <a:p>
            <a:pPr marL="0" indent="0">
              <a:buNone/>
            </a:pPr>
            <a:r>
              <a:rPr lang="en-US" dirty="0"/>
              <a:t>• Stolen passwords</a:t>
            </a:r>
          </a:p>
          <a:p>
            <a:pPr marL="0" indent="0">
              <a:buNone/>
            </a:pPr>
            <a:r>
              <a:rPr lang="en-US" dirty="0"/>
              <a:t>• Identity theft</a:t>
            </a:r>
          </a:p>
          <a:p>
            <a:pPr marL="0" indent="0">
              <a:buNone/>
            </a:pPr>
            <a:r>
              <a:rPr lang="en-US" dirty="0"/>
              <a:t>• Data breaches</a:t>
            </a:r>
          </a:p>
          <a:p>
            <a:pPr marL="0" indent="0">
              <a:buNone/>
            </a:pPr>
            <a:r>
              <a:rPr lang="en-US" dirty="0"/>
              <a:t>• Financial losses</a:t>
            </a:r>
          </a:p>
          <a:p>
            <a:pPr marL="0" indent="0">
              <a:buNone/>
            </a:pPr>
            <a:r>
              <a:rPr lang="en-US" dirty="0"/>
              <a:t>• Operational disruption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655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ACD9-7005-947D-113B-15F5518F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Protect Yourself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A0EE9-4E11-1A46-1515-804BDFAAE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DO:</a:t>
            </a:r>
          </a:p>
          <a:p>
            <a:pPr marL="0" indent="0">
              <a:buNone/>
            </a:pPr>
            <a:r>
              <a:rPr lang="en-US" dirty="0"/>
              <a:t>• Enable 2FA</a:t>
            </a:r>
          </a:p>
          <a:p>
            <a:pPr marL="0" indent="0">
              <a:buNone/>
            </a:pPr>
            <a:r>
              <a:rPr lang="en-US" dirty="0"/>
              <a:t>• Use strong passwords</a:t>
            </a:r>
          </a:p>
          <a:p>
            <a:pPr marL="0" indent="0">
              <a:buNone/>
            </a:pPr>
            <a:r>
              <a:rPr lang="en-US" dirty="0"/>
              <a:t>• Verify email addresses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 NOT:</a:t>
            </a:r>
          </a:p>
          <a:p>
            <a:pPr marL="0" indent="0">
              <a:buNone/>
            </a:pPr>
            <a:r>
              <a:rPr lang="en-US" dirty="0"/>
              <a:t>• Share passwords</a:t>
            </a:r>
          </a:p>
          <a:p>
            <a:pPr marL="0" indent="0">
              <a:buNone/>
            </a:pPr>
            <a:r>
              <a:rPr lang="en-US" dirty="0"/>
              <a:t>• Open suspicious attachments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9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F42A-ED5F-9782-41A6-794C9D492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157591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/>
              <a:t>Safe Internet Habits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A8B2B-45F4-9A90-8668-246D32F23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884" y="1027906"/>
            <a:ext cx="9670915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• Check for https://</a:t>
            </a:r>
          </a:p>
          <a:p>
            <a:pPr marL="0" indent="0">
              <a:buNone/>
            </a:pPr>
            <a:r>
              <a:rPr lang="en-US" dirty="0"/>
              <a:t>• Avoid public Wi‑Fi for banking</a:t>
            </a:r>
          </a:p>
          <a:p>
            <a:pPr marL="0" indent="0">
              <a:buNone/>
            </a:pPr>
            <a:r>
              <a:rPr lang="en-US" dirty="0"/>
              <a:t>• Download files from trusted sources</a:t>
            </a:r>
          </a:p>
          <a:p>
            <a:pPr marL="0" indent="0">
              <a:buNone/>
            </a:pPr>
            <a:r>
              <a:rPr lang="en-US" dirty="0"/>
              <a:t>• Back up important data</a:t>
            </a:r>
          </a:p>
          <a:p>
            <a:pPr marL="0" indent="0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5200" b="1" dirty="0">
                <a:latin typeface="+mj-lt"/>
              </a:rPr>
              <a:t>What To Do If You Suspect Phishing</a:t>
            </a:r>
          </a:p>
          <a:p>
            <a:pPr marL="0" indent="0" algn="ctr">
              <a:buNone/>
            </a:pPr>
            <a:endParaRPr lang="en-US" sz="1300" b="1" dirty="0"/>
          </a:p>
          <a:p>
            <a:pPr marL="514350" indent="-514350">
              <a:buAutoNum type="arabicPeriod"/>
            </a:pPr>
            <a:r>
              <a:rPr lang="en-US" dirty="0"/>
              <a:t>Do not click the link</a:t>
            </a:r>
          </a:p>
          <a:p>
            <a:pPr marL="0" indent="0">
              <a:buNone/>
            </a:pPr>
            <a:r>
              <a:rPr lang="en-US" dirty="0"/>
              <a:t>2. Report the message</a:t>
            </a:r>
          </a:p>
          <a:p>
            <a:pPr marL="0" indent="0">
              <a:buNone/>
            </a:pPr>
            <a:r>
              <a:rPr lang="en-US" dirty="0"/>
              <a:t>3. Delete suspicious emails</a:t>
            </a:r>
          </a:p>
          <a:p>
            <a:pPr marL="0" indent="0">
              <a:buNone/>
            </a:pPr>
            <a:r>
              <a:rPr lang="en-US" dirty="0"/>
              <a:t>4. Change passwords if necessary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37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D878-9B19-5A94-B139-7F7688FB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Cybersecurity Quiz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F89C7-D702-43C1-17AF-3628E3B1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60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Question 1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dirty="0"/>
              <a:t>You receive an email saying:</a:t>
            </a:r>
          </a:p>
          <a:p>
            <a:pPr marL="0" indent="0">
              <a:buNone/>
            </a:pPr>
            <a:r>
              <a:rPr lang="en-US" dirty="0"/>
              <a:t>“Your ATM card has been blocked. Click here immediately.”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dirty="0"/>
              <a:t>What should you do?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dirty="0"/>
              <a:t>A. Click immediately</a:t>
            </a:r>
          </a:p>
          <a:p>
            <a:pPr marL="0" indent="0">
              <a:buNone/>
            </a:pPr>
            <a:r>
              <a:rPr lang="en-US" dirty="0"/>
              <a:t>B. Ignore verification signs</a:t>
            </a:r>
          </a:p>
          <a:p>
            <a:pPr marL="0" indent="0">
              <a:buNone/>
            </a:pPr>
            <a:r>
              <a:rPr lang="en-US" dirty="0"/>
              <a:t>C. Verify through the official bank website</a:t>
            </a:r>
          </a:p>
          <a:p>
            <a:pPr marL="0" indent="0">
              <a:buNone/>
            </a:pPr>
            <a:r>
              <a:rPr lang="en-US" dirty="0"/>
              <a:t>D. Share the message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Correct Answer: C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71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19F97-D025-A433-483C-7F9ACB18D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335" y="463753"/>
            <a:ext cx="966118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Question 2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Which of these is a sign of phishing?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A. Secure website</a:t>
            </a:r>
          </a:p>
          <a:p>
            <a:pPr marL="0" indent="0">
              <a:buNone/>
            </a:pPr>
            <a:r>
              <a:rPr lang="en-US" dirty="0"/>
              <a:t>B. Urgent threats</a:t>
            </a:r>
          </a:p>
          <a:p>
            <a:pPr marL="0" indent="0">
              <a:buNone/>
            </a:pPr>
            <a:r>
              <a:rPr lang="en-US" dirty="0"/>
              <a:t>C. Official domain name</a:t>
            </a:r>
          </a:p>
          <a:p>
            <a:pPr marL="0" indent="0">
              <a:buNone/>
            </a:pPr>
            <a:r>
              <a:rPr lang="en-US" dirty="0"/>
              <a:t>D. Strong password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Correct Answer: B</a:t>
            </a:r>
          </a:p>
        </p:txBody>
      </p:sp>
    </p:spTree>
    <p:extLst>
      <p:ext uri="{BB962C8B-B14F-4D97-AF65-F5344CB8AC3E}">
        <p14:creationId xmlns:p14="http://schemas.microsoft.com/office/powerpoint/2010/main" val="78892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3863-A49A-0095-E71E-8333264A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pPr algn="ctr"/>
            <a:r>
              <a:rPr lang="en-US" b="1" dirty="0"/>
              <a:t>The Psychology Behind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A28D-E53A-7686-84AE-320D53217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96" y="1397608"/>
            <a:ext cx="100892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People Fall for Phishing</a:t>
            </a:r>
          </a:p>
          <a:p>
            <a:pPr marL="0" indent="0">
              <a:buNone/>
            </a:pPr>
            <a:r>
              <a:rPr lang="en-US" dirty="0"/>
              <a:t>People often fall victim because of:</a:t>
            </a:r>
          </a:p>
          <a:p>
            <a:r>
              <a:rPr lang="en-US" dirty="0"/>
              <a:t>Panic</a:t>
            </a:r>
          </a:p>
          <a:p>
            <a:r>
              <a:rPr lang="en-US" dirty="0"/>
              <a:t>Trust</a:t>
            </a:r>
          </a:p>
          <a:p>
            <a:r>
              <a:rPr lang="en-US" dirty="0"/>
              <a:t>Lack of awareness</a:t>
            </a:r>
          </a:p>
          <a:p>
            <a:r>
              <a:rPr lang="en-US" dirty="0"/>
              <a:t>Distraction</a:t>
            </a:r>
          </a:p>
          <a:p>
            <a:r>
              <a:rPr lang="en-US" dirty="0"/>
              <a:t>Pressure to act quickly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Important Quote:</a:t>
            </a:r>
          </a:p>
          <a:p>
            <a:pPr marL="0" indent="0">
              <a:buNone/>
            </a:pPr>
            <a:r>
              <a:rPr lang="en-US" dirty="0"/>
              <a:t>“Phishing attacks succeed not because technology is weak, but because human emotions are targeted.”</a:t>
            </a:r>
          </a:p>
        </p:txBody>
      </p:sp>
    </p:spTree>
    <p:extLst>
      <p:ext uri="{BB962C8B-B14F-4D97-AF65-F5344CB8AC3E}">
        <p14:creationId xmlns:p14="http://schemas.microsoft.com/office/powerpoint/2010/main" val="4088821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1CA9-6900-9043-673D-E3482146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F76F3-DF55-D933-0347-36E385B05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749" y="11738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careless click can compromise an entire organization.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Cybersecurity is everyone’s responsibility.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4727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</TotalTime>
  <Words>760</Words>
  <Application>Microsoft Office PowerPoint</Application>
  <PresentationFormat>Widescreen</PresentationFormat>
  <Paragraphs>187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3</vt:lpstr>
      <vt:lpstr>Wisp</vt:lpstr>
      <vt:lpstr>PHISHING ATTACKS </vt:lpstr>
      <vt:lpstr>A True-to-Life Situation </vt:lpstr>
      <vt:lpstr>Why Phishing Matters </vt:lpstr>
      <vt:lpstr>Common Scams in Nigeria </vt:lpstr>
      <vt:lpstr>Types of Phishing Attacks </vt:lpstr>
      <vt:lpstr>Social Engineering Techniques </vt:lpstr>
      <vt:lpstr>Common Social Engineering Tricks</vt:lpstr>
      <vt:lpstr>Spot the Red Flags </vt:lpstr>
      <vt:lpstr>How to Identify Fake Websites</vt:lpstr>
      <vt:lpstr>Real vs Fake Message </vt:lpstr>
      <vt:lpstr>Case Study </vt:lpstr>
      <vt:lpstr>Real-World Phishing Examples</vt:lpstr>
      <vt:lpstr>Consequences of Phishing </vt:lpstr>
      <vt:lpstr>How to Protect Yourself </vt:lpstr>
      <vt:lpstr>Safe Internet Habits </vt:lpstr>
      <vt:lpstr>Interactive Cybersecurity Quiz </vt:lpstr>
      <vt:lpstr>PowerPoint Presentation</vt:lpstr>
      <vt:lpstr>The Psychology Behind Phishing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OLUWASEYI ARIYO</dc:creator>
  <cp:lastModifiedBy>OLUWASEYI ARIYO</cp:lastModifiedBy>
  <cp:revision>1</cp:revision>
  <dcterms:created xsi:type="dcterms:W3CDTF">2026-05-10T13:08:08Z</dcterms:created>
  <dcterms:modified xsi:type="dcterms:W3CDTF">2026-05-10T13:13:31Z</dcterms:modified>
</cp:coreProperties>
</file>